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917B"/>
    <a:srgbClr val="B9472D"/>
    <a:srgbClr val="9F1A26"/>
    <a:srgbClr val="5D0E21"/>
    <a:srgbClr val="4E95BA"/>
    <a:srgbClr val="293B8F"/>
    <a:srgbClr val="800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9DE07-B825-45FD-9A95-DD825429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276B4E-411E-466F-BC92-48134C2DE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FAF947-6861-42C7-B0DE-E20C58D9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F618D-326C-4350-9D6F-7069E6B3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4372D-9ED5-41DB-8BD4-D4D630F1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2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6FCEA-E892-42DA-97F3-8AE3FFC6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1A05B-075E-49A5-ADBA-9A3F9366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B8921-A419-438E-AD57-DFC6C3A9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C3C17-36FA-4EA7-AE47-C04C7190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94D1C-E791-4822-8F64-DA07E1FD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9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485EC-64AB-4063-8B21-8747C336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C7AA39-EC76-44BD-A267-453D446BB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92453-B53A-400F-9366-F3B7EEB4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4557E-69B4-4C32-9114-83CA51D4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7AA3D-FC95-4450-BC00-0CA7DA11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5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C5C6C-D529-4EEB-BDD0-C7D1DE64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6E1509-B040-4648-B3DC-9435F64B2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79494E-DA9C-4F01-8966-BB1AD2FB9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6C0DA0-0730-4EA8-A6E0-ECA52922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E6C3F1-621A-4719-AF5E-A6E56A8E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81E005-860E-4220-AED7-D8FE3450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2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DA8B-C560-42AC-B3D7-DF07D022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55A4F-A0ED-4753-8D1F-14E58D9E3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119A4C-9DCF-4ACE-8ABC-4301B1193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697229-D425-4128-975F-A706DA697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A09163-726F-42AB-9B3A-4B728A4E1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5365EA-6715-4A9B-A982-4A6A995C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487FAD-2BBB-4E78-A250-92F8389A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A634B5-7281-4D39-B77B-1807BD63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1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3213-960F-4693-8A13-257E5114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E6E4F3-EB9E-4C33-B529-A6363066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EE0C4-C159-4A51-8892-57A23827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EA9749-4744-4241-A065-B880E808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8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9D35FC-CA7A-4622-86CD-2879845B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9F66AD-E2B7-43E7-8B2D-0599353D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1AF44-113A-4FFC-881B-6EAF89E4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7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60A36-96D7-4664-9F0F-9CE0A7CC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B2DBA-1B8C-47C9-802D-FA77267C5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A47F7A-5322-4999-ADBF-84A70B05F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55EFFA-A10A-433D-BA0F-E9FA24E9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90A3B-FEAB-4264-B748-683D0657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EED62-57DC-4018-803F-47E1F3C1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3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8CEF4-F185-46F2-BA03-0C7DC013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6BAFA3-6897-4A4A-B8AC-9E77E7238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B88A8A-507C-49DC-8BAE-1929BB95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EDD30-4016-4A8B-9473-83CA9958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F1EE62-0471-4F5E-BEE2-0852C4E8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9FD4F9-1A7D-4EA7-A8EF-829F45D3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1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21CA3-681E-42D7-B23A-9931D5DB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1D732-F315-4684-A85B-3A38ABA95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14602-5AFC-4A09-B239-957BA4E8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755C2-0C3E-4346-A1B4-2AB78232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63BE0E-2651-4C25-9B06-265D0946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0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B32E5B-CFD5-4CB7-AF26-20440783A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4521B4-CCEF-4547-9FE9-20046132D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F04295-2579-4914-BC6D-EC3A5EF2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F12F8-5888-4AFE-AD53-8599D495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27D1FD-2B95-46FE-A364-3147D4D4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C26E59-E80D-4228-97D0-3397E9D2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F2553E-EF85-4529-8758-BC34BA0E1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4BC40-135D-435B-9974-BD8653128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0B351-F17A-490E-B8BD-0277DCCA718B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3E7D0-BE2E-4D46-AA29-9FE613F81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EAB26-FFA7-45B6-A424-535A8B70D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FB73-C85A-4E75-83DA-DF4F1D329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2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53E14B3-AD50-47A3-BB54-8409BF428454}"/>
              </a:ext>
            </a:extLst>
          </p:cNvPr>
          <p:cNvSpPr/>
          <p:nvPr/>
        </p:nvSpPr>
        <p:spPr>
          <a:xfrm>
            <a:off x="5551362" y="4114799"/>
            <a:ext cx="3840303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Z2,#N=280,L=29.3,G=47.4,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W=30.3, #W=5,</a:t>
            </a:r>
            <a:r>
              <a:rPr lang="en-US" b="0" dirty="0">
                <a:solidFill>
                  <a:schemeClr val="tx1"/>
                </a:solidFill>
                <a:effectLst/>
                <a:latin typeface="+mj-lt"/>
              </a:rPr>
              <a:t>#R=7,#O=2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AC2F66B-C478-478F-A481-306995957F7E}"/>
              </a:ext>
            </a:extLst>
          </p:cNvPr>
          <p:cNvSpPr/>
          <p:nvPr/>
        </p:nvSpPr>
        <p:spPr>
          <a:xfrm>
            <a:off x="676276" y="2936631"/>
            <a:ext cx="5419724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Z1,#N=374,L=48.7,G=62.6,</a:t>
            </a:r>
            <a:r>
              <a:rPr lang="en-US" b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W=49.5,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#W=5,</a:t>
            </a:r>
            <a:r>
              <a:rPr lang="en-US" b="0" dirty="0">
                <a:solidFill>
                  <a:schemeClr val="tx1"/>
                </a:solidFill>
                <a:effectLst/>
                <a:latin typeface="+mj-lt"/>
              </a:rPr>
              <a:t>#R=5,#O=11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7842C1-EDBD-4994-AE1B-7221DB8217C9}"/>
              </a:ext>
            </a:extLst>
          </p:cNvPr>
          <p:cNvSpPr/>
          <p:nvPr/>
        </p:nvSpPr>
        <p:spPr>
          <a:xfrm>
            <a:off x="676273" y="5292967"/>
            <a:ext cx="9341090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Z4,#N=558,L=53.6,G=65.3,#R=16,#O=18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24A2700-A0E7-4351-9092-C0E68F9C3E88}"/>
              </a:ext>
            </a:extLst>
          </p:cNvPr>
          <p:cNvSpPr/>
          <p:nvPr/>
        </p:nvSpPr>
        <p:spPr>
          <a:xfrm>
            <a:off x="676272" y="1758463"/>
            <a:ext cx="9341091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Z3,#N=871,L=70.4,G=95.6,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W=27.8</a:t>
            </a:r>
            <a:r>
              <a:rPr lang="en-US" b="0" dirty="0">
                <a:solidFill>
                  <a:schemeClr val="tx1"/>
                </a:solidFill>
                <a:effectLst/>
                <a:latin typeface="+mj-lt"/>
              </a:rPr>
              <a:t>,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#W=5,</a:t>
            </a:r>
            <a:r>
              <a:rPr lang="en-US" b="0" dirty="0">
                <a:solidFill>
                  <a:schemeClr val="tx1"/>
                </a:solidFill>
                <a:effectLst/>
                <a:latin typeface="+mj-lt"/>
              </a:rPr>
              <a:t>#R=26,#O=32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33B84E-86EC-4435-A0F0-D48BE8D05274}"/>
              </a:ext>
            </a:extLst>
          </p:cNvPr>
          <p:cNvCxnSpPr>
            <a:cxnSpLocks/>
          </p:cNvCxnSpPr>
          <p:nvPr/>
        </p:nvCxnSpPr>
        <p:spPr>
          <a:xfrm flipV="1">
            <a:off x="833316" y="3884002"/>
            <a:ext cx="0" cy="1408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F50C516-A0A3-41A7-AA1A-EC97DFEFF674}"/>
              </a:ext>
            </a:extLst>
          </p:cNvPr>
          <p:cNvSpPr/>
          <p:nvPr/>
        </p:nvSpPr>
        <p:spPr>
          <a:xfrm>
            <a:off x="1050680" y="4114799"/>
            <a:ext cx="4177567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Z5,#N=292,L=30.9,G=15.4,#R=3,#O=16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81BD50D-996C-4E06-AD1E-AE211CDD7A0B}"/>
              </a:ext>
            </a:extLst>
          </p:cNvPr>
          <p:cNvSpPr/>
          <p:nvPr/>
        </p:nvSpPr>
        <p:spPr>
          <a:xfrm>
            <a:off x="6378817" y="2936631"/>
            <a:ext cx="3359293" cy="94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Z6,#N=8,L=12.5,G=4.8,#R=2,#O=0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2072F84-2E32-48EE-870C-5FA9D97931C6}"/>
              </a:ext>
            </a:extLst>
          </p:cNvPr>
          <p:cNvCxnSpPr>
            <a:cxnSpLocks/>
          </p:cNvCxnSpPr>
          <p:nvPr/>
        </p:nvCxnSpPr>
        <p:spPr>
          <a:xfrm flipV="1">
            <a:off x="1516185" y="2698266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CD75310-5C44-4D02-9EC5-071E393E1D68}"/>
              </a:ext>
            </a:extLst>
          </p:cNvPr>
          <p:cNvCxnSpPr>
            <a:cxnSpLocks/>
          </p:cNvCxnSpPr>
          <p:nvPr/>
        </p:nvCxnSpPr>
        <p:spPr>
          <a:xfrm flipV="1">
            <a:off x="6237409" y="2708034"/>
            <a:ext cx="0" cy="1396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298E5FD-2302-4789-ACCC-5856D4C8EAB5}"/>
              </a:ext>
            </a:extLst>
          </p:cNvPr>
          <p:cNvCxnSpPr>
            <a:cxnSpLocks/>
          </p:cNvCxnSpPr>
          <p:nvPr/>
        </p:nvCxnSpPr>
        <p:spPr>
          <a:xfrm flipV="1">
            <a:off x="8881093" y="3884002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22423309-7459-4D7E-A932-A8FEB4751AF9}"/>
              </a:ext>
            </a:extLst>
          </p:cNvPr>
          <p:cNvCxnSpPr>
            <a:cxnSpLocks/>
          </p:cNvCxnSpPr>
          <p:nvPr/>
        </p:nvCxnSpPr>
        <p:spPr>
          <a:xfrm flipV="1">
            <a:off x="9885484" y="2708034"/>
            <a:ext cx="0" cy="25947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5B23926-670C-4391-9DEE-0D154309E9A3}"/>
              </a:ext>
            </a:extLst>
          </p:cNvPr>
          <p:cNvCxnSpPr>
            <a:cxnSpLocks/>
          </p:cNvCxnSpPr>
          <p:nvPr/>
        </p:nvCxnSpPr>
        <p:spPr>
          <a:xfrm flipV="1">
            <a:off x="9562368" y="3884002"/>
            <a:ext cx="0" cy="1396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B6DDEECD-04F5-4E8E-8E98-09974C8A4248}"/>
              </a:ext>
            </a:extLst>
          </p:cNvPr>
          <p:cNvCxnSpPr>
            <a:cxnSpLocks/>
          </p:cNvCxnSpPr>
          <p:nvPr/>
        </p:nvCxnSpPr>
        <p:spPr>
          <a:xfrm flipV="1">
            <a:off x="1516185" y="3886203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E386D820-E809-424B-B9A8-1B606744AA83}"/>
              </a:ext>
            </a:extLst>
          </p:cNvPr>
          <p:cNvCxnSpPr>
            <a:cxnSpLocks/>
          </p:cNvCxnSpPr>
          <p:nvPr/>
        </p:nvCxnSpPr>
        <p:spPr>
          <a:xfrm flipV="1">
            <a:off x="1516185" y="5076340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F7CE731E-F78E-4E71-874B-396DA40B7E85}"/>
              </a:ext>
            </a:extLst>
          </p:cNvPr>
          <p:cNvCxnSpPr>
            <a:cxnSpLocks/>
          </p:cNvCxnSpPr>
          <p:nvPr/>
        </p:nvCxnSpPr>
        <p:spPr>
          <a:xfrm flipV="1">
            <a:off x="8881093" y="2714020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17871F13-F9B9-4456-9F47-5E42FF63554B}"/>
              </a:ext>
            </a:extLst>
          </p:cNvPr>
          <p:cNvCxnSpPr>
            <a:cxnSpLocks/>
          </p:cNvCxnSpPr>
          <p:nvPr/>
        </p:nvCxnSpPr>
        <p:spPr>
          <a:xfrm flipV="1">
            <a:off x="5926876" y="3884002"/>
            <a:ext cx="1" cy="228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2716C5F-C028-4DBB-9B9C-0568B9CE0E8F}"/>
              </a:ext>
            </a:extLst>
          </p:cNvPr>
          <p:cNvSpPr txBox="1"/>
          <p:nvPr/>
        </p:nvSpPr>
        <p:spPr>
          <a:xfrm>
            <a:off x="676271" y="1106835"/>
            <a:ext cx="7972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+mj-lt"/>
              </a:rPr>
              <a:t>case2383wp_k.m, L=245.6, G=291.2</a:t>
            </a:r>
          </a:p>
          <a:p>
            <a:r>
              <a:rPr lang="en-US" dirty="0">
                <a:latin typeface="+mj-lt"/>
              </a:rPr>
              <a:t>DRP occurs in Zone456, Flexible Demand is about 11.5% of the </a:t>
            </a:r>
            <a:r>
              <a:rPr lang="en-US">
                <a:latin typeface="+mj-lt"/>
              </a:rPr>
              <a:t>total load </a:t>
            </a:r>
            <a:endParaRPr lang="en-US" b="0" dirty="0">
              <a:effectLst/>
              <a:latin typeface="+mj-lt"/>
            </a:endParaRPr>
          </a:p>
        </p:txBody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DE47112C-D5B4-4927-9F29-1E27844087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311" t="25629" r="-2278" b="32634"/>
          <a:stretch/>
        </p:blipFill>
        <p:spPr>
          <a:xfrm>
            <a:off x="2399319" y="1007416"/>
            <a:ext cx="1778981" cy="174898"/>
          </a:xfrm>
          <a:prstGeom prst="rect">
            <a:avLst/>
          </a:prstGeom>
        </p:spPr>
      </p:pic>
      <p:sp>
        <p:nvSpPr>
          <p:cNvPr id="119" name="矩形 118">
            <a:extLst>
              <a:ext uri="{FF2B5EF4-FFF2-40B4-BE49-F238E27FC236}">
                <a16:creationId xmlns:a16="http://schemas.microsoft.com/office/drawing/2014/main" id="{6E12B952-99D7-4351-8CCD-96D0FB155E4E}"/>
              </a:ext>
            </a:extLst>
          </p:cNvPr>
          <p:cNvSpPr/>
          <p:nvPr/>
        </p:nvSpPr>
        <p:spPr>
          <a:xfrm>
            <a:off x="4969242" y="4823065"/>
            <a:ext cx="228600" cy="218920"/>
          </a:xfrm>
          <a:prstGeom prst="rect">
            <a:avLst/>
          </a:prstGeom>
          <a:solidFill>
            <a:srgbClr val="293B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B0E10C7-D8C9-418A-B8EC-43E9604DECBA}"/>
              </a:ext>
            </a:extLst>
          </p:cNvPr>
          <p:cNvSpPr/>
          <p:nvPr/>
        </p:nvSpPr>
        <p:spPr>
          <a:xfrm>
            <a:off x="9488810" y="3646763"/>
            <a:ext cx="228600" cy="218920"/>
          </a:xfrm>
          <a:prstGeom prst="rect">
            <a:avLst/>
          </a:prstGeom>
          <a:solidFill>
            <a:srgbClr val="4E95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0CF705DC-F478-4597-9A07-40DA45155771}"/>
              </a:ext>
            </a:extLst>
          </p:cNvPr>
          <p:cNvSpPr/>
          <p:nvPr/>
        </p:nvSpPr>
        <p:spPr>
          <a:xfrm>
            <a:off x="9753169" y="2454373"/>
            <a:ext cx="228600" cy="218920"/>
          </a:xfrm>
          <a:prstGeom prst="rect">
            <a:avLst/>
          </a:prstGeom>
          <a:solidFill>
            <a:srgbClr val="5D0E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B975495-1EA3-42C4-B0FB-F0F872F6171A}"/>
              </a:ext>
            </a:extLst>
          </p:cNvPr>
          <p:cNvSpPr/>
          <p:nvPr/>
        </p:nvSpPr>
        <p:spPr>
          <a:xfrm>
            <a:off x="9133686" y="4823005"/>
            <a:ext cx="228600" cy="218920"/>
          </a:xfrm>
          <a:prstGeom prst="rect">
            <a:avLst/>
          </a:prstGeom>
          <a:solidFill>
            <a:srgbClr val="9F1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8D2C2F3E-9F40-4218-A798-A5C7D7D7ECFF}"/>
              </a:ext>
            </a:extLst>
          </p:cNvPr>
          <p:cNvSpPr/>
          <p:nvPr/>
        </p:nvSpPr>
        <p:spPr>
          <a:xfrm>
            <a:off x="5842385" y="3646763"/>
            <a:ext cx="228600" cy="218920"/>
          </a:xfrm>
          <a:prstGeom prst="rect">
            <a:avLst/>
          </a:prstGeom>
          <a:solidFill>
            <a:srgbClr val="B94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4648400-10B7-40C8-94B1-EEA1285CFC6D}"/>
              </a:ext>
            </a:extLst>
          </p:cNvPr>
          <p:cNvSpPr/>
          <p:nvPr/>
        </p:nvSpPr>
        <p:spPr>
          <a:xfrm>
            <a:off x="9764064" y="5986135"/>
            <a:ext cx="228600" cy="218920"/>
          </a:xfrm>
          <a:prstGeom prst="rect">
            <a:avLst/>
          </a:prstGeom>
          <a:solidFill>
            <a:srgbClr val="D29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3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179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3468274604@qq.com</dc:creator>
  <cp:lastModifiedBy>3468274604@qq.com</cp:lastModifiedBy>
  <cp:revision>33</cp:revision>
  <dcterms:created xsi:type="dcterms:W3CDTF">2026-01-06T01:56:49Z</dcterms:created>
  <dcterms:modified xsi:type="dcterms:W3CDTF">2026-01-06T11:24:40Z</dcterms:modified>
</cp:coreProperties>
</file>